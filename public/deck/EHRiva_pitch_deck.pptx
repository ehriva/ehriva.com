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hriva.com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cedenceresearch.com/artificial-intelligence-in-healthcare-market" TargetMode="External"/><Relationship Id="rId3" Type="http://schemas.openxmlformats.org/officeDocument/2006/relationships/hyperlink" Target="https://www.6wresearch.com/industry-report/middle-east-digital-health-market" TargetMode="External"/><Relationship Id="rId4" Type="http://schemas.openxmlformats.org/officeDocument/2006/relationships/hyperlink" Target="https://thenextweb.com/news/bunkerhill-health-agentic-ai-carebricks-series-b" TargetMode="External"/><Relationship Id="rId5" Type="http://schemas.openxmlformats.org/officeDocument/2006/relationships/hyperlink" Target="https://thenextweb.com/news/parallel-hospital-ai-agents-20m-index-ventures" TargetMode="External"/><Relationship Id="rId6" Type="http://schemas.openxmlformats.org/officeDocument/2006/relationships/hyperlink" Target="https://www.precedenceresearch.com/artificial-intelligence-in-healthcare-market" TargetMode="External"/><Relationship Id="rId7" Type="http://schemas.openxmlformats.org/officeDocument/2006/relationships/hyperlink" Target="https://www.6wresearch.com/industry-report/middle-east-digital-health-market" TargetMode="External"/><Relationship Id="rId8" Type="http://schemas.openxmlformats.org/officeDocument/2006/relationships/hyperlink" Target="https://www.ohdsi.org/wp-content/uploads/2025/11/November18-OHDSI-Intro-Slides.pdf" TargetMode="External"/><Relationship Id="rId9" Type="http://schemas.openxmlformats.org/officeDocument/2006/relationships/hyperlink" Target="https://thenextweb.com" TargetMode="External"/><Relationship Id="rId1" Type="http://schemas.openxmlformats.org/officeDocument/2006/relationships/image" Target="../media/image-8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hriva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transform/helping-healthcare-move-from-data-to-agentic-action-himms" TargetMode="External"/><Relationship Id="rId3" Type="http://schemas.openxmlformats.org/officeDocument/2006/relationships/hyperlink" Target="https://startup.google.com/programs/accelerator/middle-east-north-africa-turkey/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hriva.com/" TargetMode="External"/><Relationship Id="rId3" Type="http://schemas.openxmlformats.org/officeDocument/2006/relationships/hyperlink" Target="mailto:hello@ehriva.com" TargetMode="External"/><Relationship Id="rId4" Type="http://schemas.openxmlformats.org/officeDocument/2006/relationships/hyperlink" Target="https://github.com/ehriva" TargetMode="External"/><Relationship Id="rId1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5232" y="658368"/>
            <a:ext cx="1591056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</p:sp>
      <p:pic>
        <p:nvPicPr>
          <p:cNvPr id="3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749808"/>
            <a:ext cx="1408176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A8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CLINICIANS CAN TRUST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EHRiva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3CA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EHR data to agentic action.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= Electronic Health Record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45537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procedure agents  ·  EHR analytics agents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230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Kaplan, CEO &amp; CTO   ·   Suleyman Yıldırım, Chief Medical Officer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A8D4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ehriva.com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 are data-rich and action-poor.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1A588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Buried in administration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nearly half their time on documentation instead of care, decision support exists but lives outside the workflow, so adoption collapses.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1A588D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 data left unused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6344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of structured and free-text data are generated daily, yet most analysis is manual and retrospective; predictive use is rare.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8160" y="196596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1A588D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1248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isn't standardized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1248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hospital systems speak different languages, data can't be analyzed, compared across sites, or turned into research.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across hospital workflows, humans in the loop.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CLINIFLOW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procedure agents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smart order sets, protocol adherence, decision support, trained on each institution's own guidelines.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 analytics agents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6344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discovery, ICD-10 coding, readmission and deterioration prediction, agents that nudge the right team.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38160" y="18288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research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1248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assemble EHR, lab and imaging data, with a secure environment to build medical AI.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OMOP-standardized data layer  ·  evaluation-first  ·  privacy by design (GDPR)  ·  on-prem or cloud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01 · CLINICAL PROCEDURE AGENTS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CliniFlow, AI inside the clinician's workflow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documentation and smart order sets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Protocol-adherence checks in real time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decision support grounded in the institution's own guidelines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on every clinical action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0" y="178308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03720" y="2103120"/>
            <a:ext cx="1463040" cy="384048"/>
          </a:xfrm>
          <a:prstGeom prst="roundRect">
            <a:avLst>
              <a:gd name="adj" fmla="val 119048"/>
            </a:avLst>
          </a:prstGeom>
          <a:solidFill>
            <a:srgbClr val="1A588D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CliniFlow Agent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2697480"/>
            <a:ext cx="4297680" cy="594360"/>
          </a:xfrm>
          <a:prstGeom prst="roundRect">
            <a:avLst>
              <a:gd name="adj" fmla="val 1846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697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note: admission summary…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3474720"/>
            <a:ext cx="4297680" cy="594360"/>
          </a:xfrm>
          <a:prstGeom prst="roundRect">
            <a:avLst>
              <a:gd name="adj" fmla="val 1846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set: pre-op labs, recommended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03720" y="4434840"/>
            <a:ext cx="4297680" cy="685800"/>
          </a:xfrm>
          <a:prstGeom prst="roundRect">
            <a:avLst>
              <a:gd name="adj" fmla="val 18667"/>
            </a:avLst>
          </a:prstGeom>
          <a:solidFill>
            <a:srgbClr val="3CA9D9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4434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Suggested: order set applied, awaiting clinician confirm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the clinician's existing workflow, not another tab to open.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 · EHR ANALYTICS AGENTS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Analytics, agents that act on risk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discovery and ICD-10 coding agents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Readmission, deterioration and length-of-stay prediction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nudge the right care team at the right time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OMOP-standardized, de-identified data layer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0" y="178308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03720" y="210312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2185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903720" y="24414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 ↑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385048" y="210312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185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85048" y="24414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alerts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866376" y="210312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66376" y="2185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66376" y="24414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−1.2 days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040880" y="3200400"/>
            <a:ext cx="292608" cy="640080"/>
          </a:xfrm>
          <a:prstGeom prst="rect">
            <a:avLst/>
          </a:prstGeom>
          <a:solidFill>
            <a:srgbClr val="3CA9D9"/>
          </a:solidFill>
          <a:ln/>
        </p:spPr>
      </p:sp>
      <p:sp>
        <p:nvSpPr>
          <p:cNvPr id="17" name="Shape 14"/>
          <p:cNvSpPr/>
          <p:nvPr/>
        </p:nvSpPr>
        <p:spPr>
          <a:xfrm>
            <a:off x="7543800" y="2971800"/>
            <a:ext cx="292608" cy="868680"/>
          </a:xfrm>
          <a:prstGeom prst="rect">
            <a:avLst/>
          </a:prstGeom>
          <a:solidFill>
            <a:srgbClr val="1A588D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0" y="3291840"/>
            <a:ext cx="292608" cy="548640"/>
          </a:xfrm>
          <a:prstGeom prst="rect">
            <a:avLst/>
          </a:prstGeom>
          <a:solidFill>
            <a:srgbClr val="3CA9D9"/>
          </a:solidFill>
          <a:ln/>
        </p:spPr>
      </p:sp>
      <p:sp>
        <p:nvSpPr>
          <p:cNvPr id="19" name="Shape 16"/>
          <p:cNvSpPr/>
          <p:nvPr/>
        </p:nvSpPr>
        <p:spPr>
          <a:xfrm>
            <a:off x="8549640" y="2926080"/>
            <a:ext cx="292608" cy="914400"/>
          </a:xfrm>
          <a:prstGeom prst="rect">
            <a:avLst/>
          </a:prstGeom>
          <a:solidFill>
            <a:srgbClr val="1A588D"/>
          </a:solidFill>
          <a:ln/>
        </p:spPr>
      </p:sp>
      <p:sp>
        <p:nvSpPr>
          <p:cNvPr id="20" name="Shape 17"/>
          <p:cNvSpPr/>
          <p:nvPr/>
        </p:nvSpPr>
        <p:spPr>
          <a:xfrm>
            <a:off x="9052560" y="3154680"/>
            <a:ext cx="292608" cy="685800"/>
          </a:xfrm>
          <a:prstGeom prst="rect">
            <a:avLst/>
          </a:prstGeom>
          <a:solidFill>
            <a:srgbClr val="3CA9D9"/>
          </a:solidFill>
          <a:ln/>
        </p:spPr>
      </p:sp>
      <p:sp>
        <p:nvSpPr>
          <p:cNvPr id="21" name="Shape 18"/>
          <p:cNvSpPr/>
          <p:nvPr/>
        </p:nvSpPr>
        <p:spPr>
          <a:xfrm>
            <a:off x="9555480" y="3383280"/>
            <a:ext cx="292608" cy="457200"/>
          </a:xfrm>
          <a:prstGeom prst="rect">
            <a:avLst/>
          </a:prstGeom>
          <a:solidFill>
            <a:srgbClr val="1A588D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58400" y="3017520"/>
            <a:ext cx="292608" cy="822960"/>
          </a:xfrm>
          <a:prstGeom prst="rect">
            <a:avLst/>
          </a:prstGeom>
          <a:solidFill>
            <a:srgbClr val="3CA9D9"/>
          </a:solidFill>
          <a:ln/>
        </p:spPr>
      </p:sp>
      <p:sp>
        <p:nvSpPr>
          <p:cNvPr id="23" name="Shape 20"/>
          <p:cNvSpPr/>
          <p:nvPr/>
        </p:nvSpPr>
        <p:spPr>
          <a:xfrm>
            <a:off x="10561320" y="3246120"/>
            <a:ext cx="292608" cy="594360"/>
          </a:xfrm>
          <a:prstGeom prst="rect">
            <a:avLst/>
          </a:prstGeom>
          <a:solidFill>
            <a:srgbClr val="1A588D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4114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trends, next 24h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03720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capacity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03720" y="4782312"/>
            <a:ext cx="3094330" cy="128016"/>
          </a:xfrm>
          <a:prstGeom prst="rect">
            <a:avLst/>
          </a:prstGeom>
          <a:solidFill>
            <a:srgbClr val="1A588D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clinician's question, answered live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784080" y="566928"/>
            <a:ext cx="1737360" cy="457200"/>
          </a:xfrm>
          <a:prstGeom prst="roundRect">
            <a:avLst>
              <a:gd name="adj" fmla="val 100000"/>
            </a:avLst>
          </a:prstGeom>
          <a:solidFill>
            <a:srgbClr val="1A588D"/>
          </a:solidFill>
          <a:ln/>
        </p:spPr>
      </p:sp>
      <p:sp>
        <p:nvSpPr>
          <p:cNvPr id="6" name="Text 3"/>
          <p:cNvSpPr/>
          <p:nvPr/>
        </p:nvSpPr>
        <p:spPr>
          <a:xfrm>
            <a:off x="9784080" y="566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01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54480" y="1783080"/>
            <a:ext cx="9052560" cy="338328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04688" y="2834640"/>
            <a:ext cx="1152144" cy="1152144"/>
          </a:xfrm>
          <a:prstGeom prst="ellipse">
            <a:avLst/>
          </a:prstGeom>
          <a:solidFill>
            <a:srgbClr val="1A588D"/>
          </a:solidFill>
          <a:ln/>
        </p:spPr>
      </p:sp>
      <p:sp>
        <p:nvSpPr>
          <p:cNvPr id="9" name="Text 6"/>
          <p:cNvSpPr/>
          <p:nvPr/>
        </p:nvSpPr>
        <p:spPr>
          <a:xfrm>
            <a:off x="5504688" y="2834640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3736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 →  agent  →  SQL  →  results  (MedipolSQL pipeline)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pipeline, built in-house, not a mockup.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· RESEARCH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 question, answered with multimodal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784080" y="566928"/>
            <a:ext cx="1737360" cy="457200"/>
          </a:xfrm>
          <a:prstGeom prst="roundRect">
            <a:avLst>
              <a:gd name="adj" fmla="val 100000"/>
            </a:avLst>
          </a:prstGeom>
          <a:solidFill>
            <a:srgbClr val="1A588D"/>
          </a:solidFill>
          <a:ln/>
        </p:spPr>
      </p:sp>
      <p:sp>
        <p:nvSpPr>
          <p:cNvPr id="6" name="Text 3"/>
          <p:cNvSpPr/>
          <p:nvPr/>
        </p:nvSpPr>
        <p:spPr>
          <a:xfrm>
            <a:off x="9784080" y="566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54480" y="1783080"/>
            <a:ext cx="9052560" cy="338328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04688" y="2834640"/>
            <a:ext cx="1152144" cy="1152144"/>
          </a:xfrm>
          <a:prstGeom prst="ellipse">
            <a:avLst/>
          </a:prstGeom>
          <a:solidFill>
            <a:srgbClr val="1A588D"/>
          </a:solidFill>
          <a:ln/>
        </p:spPr>
      </p:sp>
      <p:sp>
        <p:nvSpPr>
          <p:cNvPr id="9" name="Text 6"/>
          <p:cNvSpPr/>
          <p:nvPr/>
        </p:nvSpPr>
        <p:spPr>
          <a:xfrm>
            <a:off x="5504688" y="2834640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3736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 →  query analysis  →  EHR + labs + imaging assembled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"90-day mortality in diabetic sepsis patients?", cohort, variables and imaging linked in seconds.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Large, funded, moving to agentic AI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$187.7B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u="sng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in healthcare by 2030 · ~38.5% CAGR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7830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2011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$4.96B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66344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healthcare by 2030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138160" y="17830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2011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digits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4124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u="sng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MENA digital health market growth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02336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A8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funding wave, medical AI agents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Trase $107M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Bunkerhill $55M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 $20M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Insight Health $11M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algn="ctr" indent="0" marL="0">
              <a:buNone/>
            </a:pPr>
            <a:r>
              <a:rPr lang="en-US" sz="105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Precedence Research</a:t>
            </a:r>
            <a:pPr algn="ctr" indent="0" marL="0">
              <a:buNone/>
            </a:pPr>
            <a:r>
              <a:rPr lang="en-US" sz="105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6Wresearch</a:t>
            </a:r>
            <a:pPr algn="ctr" indent="0" marL="0">
              <a:buNone/>
            </a:pPr>
            <a:r>
              <a:rPr lang="en-US" sz="105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OHDSI</a:t>
            </a:r>
            <a:pPr algn="ctr" indent="0" marL="0">
              <a:buNone/>
            </a:pPr>
            <a:r>
              <a:rPr lang="en-US" sz="105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The Next Web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Research-grade AI, already built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MedipolSQL, Turkish clinical text-to-SQL benchmark (in review at IEEE JBHI)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OMOP CDM v5.4 ETL built: Pusula → OMOP, phases 0 to 10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privacy-compliant execution, privacy by design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hospital pilot MoUs in discussion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Incorporating: Delaware C-Corp + local operating entities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49440" y="1737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A58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94944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items, 42 clinician-authored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223760" y="34747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7223760" y="34747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MedipolSQL, manuscript in review (IEEE JBHI)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per hospital, priced on outcomes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Wedge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OMOP-standardized analytics, fast, low-risk ROI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67328" y="182880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Expand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agents + research platform on the same data layer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70648" y="182880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8046720" y="18288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2104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Scale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2104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pilots → Gulf private groups → region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Per-bed / per-module SaaS + implementation fee · research collaborations (TÜBİTAK, Horizon)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builds agents. We build the evidence layer.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8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8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edge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88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platforms (Vertex, Copilot, Bedrock)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agent infrastructure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add the medical domain +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clinical-agent startups (Trase, Bunkerhill, Parallel)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English-first, US market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Region-native, evaluation-first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decision support (HakeemDx)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answers for clinicians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Workflow-embedded agents that 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clinician-curated evaluation benchmark + clinician co-founder + domain data flywheel.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5376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engineer who builds it, a clinician who validates 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Ahmet Kaplan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analytics, data integrations, AI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a clinical text-to-SQL benchmark (in review at IEEE JBHI)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technical build, LoRA-tuned clinical LLM, schema linker, evaluation harness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Suleyman Yıldırım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Medical Officer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46520" y="28346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clinicians every day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methods and microbiotics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clinical validation, partnerships and adoption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8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GOOGLE, BUILD ON THE STACK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Vertex AI Agent Builder  ·  BigQuery + FHIR  ·  Cloud TPUs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goal: 2 signed pilots · analytics-agent MVP · clinical prototype · seed-ready data room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data to agentic action (Google Cloud)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2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 page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EHRiva: from EHR data to agentic action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8813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5232" y="1115568"/>
            <a:ext cx="1591056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</p:sp>
      <p:pic>
        <p:nvPicPr>
          <p:cNvPr id="3" name="Image 0" descr="/Users/akaplan/Documents/Academic_Research/DigitalHealth/startup/brand/ehr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207008"/>
            <a:ext cx="1408176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EHRiva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3CA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EHR data to agentic action.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ehriva.com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hello@ehriva.com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github.com/ehriva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EHRiva: From EHR data to agentic action</dc:title>
  <dc:subject>PptxGenJS Presentation</dc:subject>
  <dc:creator>EHRiva</dc:creator>
  <cp:lastModifiedBy>EHRiva</cp:lastModifiedBy>
  <cp:revision>1</cp:revision>
  <dcterms:created xsi:type="dcterms:W3CDTF">2026-08-30T14:25:18Z</dcterms:created>
  <dcterms:modified xsi:type="dcterms:W3CDTF">2026-08-30T14:25:18Z</dcterms:modified>
</cp:coreProperties>
</file>